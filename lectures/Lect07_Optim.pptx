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8" r:id="rId2"/>
    <p:sldId id="275" r:id="rId3"/>
    <p:sldId id="463" r:id="rId4"/>
    <p:sldId id="424" r:id="rId5"/>
    <p:sldId id="422" r:id="rId6"/>
    <p:sldId id="423" r:id="rId7"/>
    <p:sldId id="425" r:id="rId8"/>
    <p:sldId id="464" r:id="rId9"/>
    <p:sldId id="435" r:id="rId10"/>
    <p:sldId id="428" r:id="rId11"/>
    <p:sldId id="431" r:id="rId12"/>
    <p:sldId id="430" r:id="rId13"/>
    <p:sldId id="477" r:id="rId14"/>
    <p:sldId id="478" r:id="rId15"/>
    <p:sldId id="479" r:id="rId16"/>
    <p:sldId id="480" r:id="rId17"/>
    <p:sldId id="481" r:id="rId18"/>
    <p:sldId id="486" r:id="rId19"/>
    <p:sldId id="433" r:id="rId20"/>
    <p:sldId id="429" r:id="rId21"/>
    <p:sldId id="483" r:id="rId22"/>
    <p:sldId id="437" r:id="rId23"/>
    <p:sldId id="434" r:id="rId24"/>
    <p:sldId id="441" r:id="rId25"/>
    <p:sldId id="439" r:id="rId26"/>
    <p:sldId id="442" r:id="rId27"/>
    <p:sldId id="484" r:id="rId28"/>
    <p:sldId id="465" r:id="rId29"/>
    <p:sldId id="436" r:id="rId30"/>
    <p:sldId id="414" r:id="rId31"/>
    <p:sldId id="416" r:id="rId32"/>
    <p:sldId id="417" r:id="rId33"/>
    <p:sldId id="418" r:id="rId34"/>
    <p:sldId id="415" r:id="rId35"/>
    <p:sldId id="487" r:id="rId36"/>
    <p:sldId id="489" r:id="rId37"/>
    <p:sldId id="443" r:id="rId38"/>
    <p:sldId id="444" r:id="rId39"/>
    <p:sldId id="467" r:id="rId40"/>
    <p:sldId id="447" r:id="rId41"/>
    <p:sldId id="448" r:id="rId42"/>
    <p:sldId id="449" r:id="rId43"/>
    <p:sldId id="450" r:id="rId44"/>
    <p:sldId id="451" r:id="rId45"/>
    <p:sldId id="452" r:id="rId46"/>
    <p:sldId id="453" r:id="rId47"/>
    <p:sldId id="454" r:id="rId48"/>
    <p:sldId id="455" r:id="rId49"/>
    <p:sldId id="466" r:id="rId50"/>
    <p:sldId id="456" r:id="rId51"/>
    <p:sldId id="457" r:id="rId52"/>
    <p:sldId id="458" r:id="rId53"/>
    <p:sldId id="459" r:id="rId54"/>
    <p:sldId id="460" r:id="rId55"/>
    <p:sldId id="461" r:id="rId56"/>
    <p:sldId id="462" r:id="rId57"/>
    <p:sldId id="469" r:id="rId58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8" autoAdjust="0"/>
    <p:restoredTop sz="94660"/>
  </p:normalViewPr>
  <p:slideViewPr>
    <p:cSldViewPr snapToGrid="0">
      <p:cViewPr>
        <p:scale>
          <a:sx n="119" d="100"/>
          <a:sy n="119" d="100"/>
        </p:scale>
        <p:origin x="1144" y="10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sdrangan/introml/blob/master/optim/grad_descent.ipynb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41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0.png"/><Relationship Id="rId4" Type="http://schemas.openxmlformats.org/officeDocument/2006/relationships/image" Target="../media/image62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7 </a:t>
            </a:r>
            <a:br>
              <a:rPr lang="en-US" sz="6600" dirty="0"/>
            </a:br>
            <a:r>
              <a:rPr lang="en-US" sz="6600" dirty="0"/>
              <a:t>Non-Linear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EE-</a:t>
            </a:r>
            <a:r>
              <a:rPr lang="en-US" dirty="0" err="1"/>
              <a:t>uy</a:t>
            </a:r>
            <a:r>
              <a:rPr lang="en-US" dirty="0"/>
              <a:t> 4563/EL-GY 9143:  Introduction to machine learning</a:t>
            </a:r>
          </a:p>
          <a:p>
            <a:r>
              <a:rPr lang="en-US" dirty="0"/>
              <a:t>Prof. Sundeep rangan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objective function</a:t>
            </a:r>
            <a:r>
              <a:rPr lang="en-US" dirty="0"/>
              <a:t>, parameters and constraints in an optimization problem</a:t>
            </a:r>
          </a:p>
          <a:p>
            <a:r>
              <a:rPr lang="en-US" dirty="0"/>
              <a:t>Compute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gradient</a:t>
            </a:r>
            <a:r>
              <a:rPr lang="en-US" dirty="0"/>
              <a:t> of a loss function for scalar, vector and matrix parameters</a:t>
            </a:r>
          </a:p>
          <a:p>
            <a:r>
              <a:rPr lang="en-US" dirty="0"/>
              <a:t>Efficiently compute a gradient in python.</a:t>
            </a:r>
          </a:p>
          <a:p>
            <a:r>
              <a:rPr lang="en-US" dirty="0"/>
              <a:t>Write the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gradient descent </a:t>
            </a:r>
            <a:r>
              <a:rPr lang="en-US" dirty="0"/>
              <a:t>update</a:t>
            </a:r>
          </a:p>
          <a:p>
            <a:r>
              <a:rPr lang="en-US" dirty="0"/>
              <a:t>Describe the effect of the learning rate on convergence</a:t>
            </a:r>
          </a:p>
          <a:p>
            <a:r>
              <a:rPr lang="en-US" dirty="0"/>
              <a:t>Determine if a loss function is convex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90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example:  Build an optimizer for logistic regression</a:t>
            </a:r>
          </a:p>
          <a:p>
            <a:r>
              <a:rPr lang="en-US" dirty="0"/>
              <a:t>Gradients of multi-variable functions</a:t>
            </a:r>
          </a:p>
          <a:p>
            <a:r>
              <a:rPr lang="en-US" dirty="0"/>
              <a:t>Gradient descent</a:t>
            </a:r>
          </a:p>
          <a:p>
            <a:r>
              <a:rPr lang="en-US" dirty="0"/>
              <a:t>Adaptive step size</a:t>
            </a:r>
          </a:p>
          <a:p>
            <a:r>
              <a:rPr lang="en-US" dirty="0"/>
              <a:t>Convexity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/>
          <p:cNvSpPr/>
          <p:nvPr/>
        </p:nvSpPr>
        <p:spPr>
          <a:xfrm>
            <a:off x="273198" y="1469883"/>
            <a:ext cx="978408" cy="48463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37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15E8-3F99-4E61-A0BC-1C540285D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on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04AB2-3EE2-4D28-B2BC-E12F8D22D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8"/>
            <a:ext cx="10058400" cy="1017656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https://github.com/sdrangan/introml/blob/master/optim/grad_descent.ipynb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04746-EEFB-4B39-81D8-B42602192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6C7A7-5B6C-47F3-9BE2-967EDD795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658" y="2230020"/>
            <a:ext cx="7686675" cy="426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658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Breast Cancer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798470" cy="4329817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Problem from Unit 6:  </a:t>
                </a:r>
                <a:br>
                  <a:rPr lang="en-US" dirty="0">
                    <a:solidFill>
                      <a:schemeClr val="tx1"/>
                    </a:solidFill>
                  </a:rPr>
                </a:br>
                <a:r>
                  <a:rPr lang="en-US" dirty="0">
                    <a:solidFill>
                      <a:schemeClr val="tx1"/>
                    </a:solidFill>
                  </a:rPr>
                  <a:t>  Determine if sample indicates cancer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Classification problem:</a:t>
                </a:r>
              </a:p>
              <a:p>
                <a:pPr lvl="1"/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Input: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10 features of sample (size, cell mitosis, etc..)</a:t>
                </a:r>
              </a:p>
              <a:p>
                <a:pPr lvl="1"/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Output</a:t>
                </a:r>
                <a:r>
                  <a:rPr lang="en-US" b="1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:  </a:t>
                </a:r>
                <a:r>
                  <a:rPr lang="en-US" dirty="0">
                    <a:solidFill>
                      <a:schemeClr val="tx1"/>
                    </a:solidFill>
                  </a:rPr>
                  <a:t>Is the s</a:t>
                </a:r>
                <a:r>
                  <a:rPr lang="en-US" dirty="0"/>
                  <a:t>ample benign or malignant?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malignant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cancer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benign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cancer</m:t>
                              </m:r>
                              <m:r>
                                <m:rPr>
                                  <m:nor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Training data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Data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569 patients</a:t>
                </a:r>
              </a:p>
              <a:p>
                <a:r>
                  <a:rPr lang="en-US" dirty="0"/>
                  <a:t>Learn a classification rule from </a:t>
                </a:r>
                <a14:m>
                  <m:oMath xmlns:m="http://schemas.openxmlformats.org/officeDocument/2006/math">
                    <m:r>
                      <a:rPr lang="es-E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798470" cy="4329817"/>
              </a:xfrm>
              <a:blipFill>
                <a:blip r:embed="rId2"/>
                <a:stretch>
                  <a:fillRect l="-2524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1026" name="Picture 2" descr="Fig 5-7 FNA cytology. Grade 1, 2,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518" y="3600529"/>
            <a:ext cx="2969615" cy="132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 flipH="1">
            <a:off x="8053518" y="4999839"/>
            <a:ext cx="3444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Grades of carcinoma cells</a:t>
            </a:r>
          </a:p>
          <a:p>
            <a:r>
              <a:rPr lang="en-US" sz="1400" dirty="0"/>
              <a:t>http://breast-cancer.ca/5a-types/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518" y="1636267"/>
            <a:ext cx="30289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32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DB53-B207-4FED-9159-16EA90665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Maximum Likelihood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AC64C7-D216-4D4F-B198-DE8CF30BD1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Logistic model</a:t>
                </a:r>
                <a:r>
                  <a:rPr lang="en-US" dirty="0"/>
                  <a:t> for the likelihood function: 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unknown weights or parameters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ML estimation </a:t>
                </a:r>
                <a:r>
                  <a:rPr lang="en-US" dirty="0"/>
                  <a:t>:  Minimize the negative log likelihood:</a:t>
                </a:r>
                <a:br>
                  <a:rPr lang="en-US" dirty="0"/>
                </a:b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</m:e>
                        </m:func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≔−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b="0" dirty="0"/>
                  <a:t> = loss function = measure of goodness of fit of parameters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Loss function:</a:t>
                </a:r>
                <a:r>
                  <a:rPr lang="en-US" dirty="0"/>
                  <a:t> binary cross entropy (number of classes K=2)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d>
                              </m:e>
                            </m:func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AC64C7-D216-4D4F-B198-DE8CF30BD1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D7A04-539C-4558-B078-A107FF59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59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F7F7-047C-47E0-8A53-39165199F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Minimizing the 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67A7D-0CEC-4AD0-B33C-0FBA24D65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analytic solution to minimize loss</a:t>
            </a:r>
          </a:p>
          <a:p>
            <a:endParaRPr lang="en-US" dirty="0"/>
          </a:p>
          <a:p>
            <a:r>
              <a:rPr lang="en-US" dirty="0"/>
              <a:t>Used </a:t>
            </a:r>
            <a:r>
              <a:rPr lang="en-US" dirty="0" err="1"/>
              <a:t>sklearn</a:t>
            </a:r>
            <a:r>
              <a:rPr lang="en-US" dirty="0"/>
              <a:t> </a:t>
            </a:r>
            <a:r>
              <a:rPr lang="en-US" dirty="0" err="1"/>
              <a:t>LogisticRegression.fit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Used built-in optimizer to minimize loss function</a:t>
            </a:r>
          </a:p>
          <a:p>
            <a:pPr lvl="1"/>
            <a:r>
              <a:rPr lang="en-US" dirty="0"/>
              <a:t>Very fast and achieves good results</a:t>
            </a:r>
          </a:p>
          <a:p>
            <a:endParaRPr lang="en-US" dirty="0"/>
          </a:p>
          <a:p>
            <a:r>
              <a:rPr lang="en-US" dirty="0"/>
              <a:t>Questions for today:</a:t>
            </a:r>
          </a:p>
          <a:p>
            <a:pPr lvl="1"/>
            <a:r>
              <a:rPr lang="en-US" dirty="0"/>
              <a:t>How does this optimizer work?</a:t>
            </a:r>
          </a:p>
          <a:p>
            <a:pPr lvl="1"/>
            <a:r>
              <a:rPr lang="en-US" dirty="0"/>
              <a:t>How would we build one from scratch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79C4-A3B9-43A4-81E0-94737528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83BB5F-53F1-497F-BEC8-7808B55D1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798" y="2490656"/>
            <a:ext cx="4940105" cy="938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3C27A8-C979-4512-B3EB-7E8C3427D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674" y="3814145"/>
            <a:ext cx="4092474" cy="59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27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example:  Build an optimizer for logistic regression</a:t>
            </a:r>
          </a:p>
          <a:p>
            <a:r>
              <a:rPr lang="en-US" dirty="0"/>
              <a:t>Gradients of multi-variable functions</a:t>
            </a:r>
          </a:p>
          <a:p>
            <a:r>
              <a:rPr lang="en-US" dirty="0"/>
              <a:t>Gradient descent</a:t>
            </a:r>
          </a:p>
          <a:p>
            <a:r>
              <a:rPr lang="en-US" dirty="0"/>
              <a:t>Adaptive step size</a:t>
            </a:r>
          </a:p>
          <a:p>
            <a:r>
              <a:rPr lang="en-US" dirty="0"/>
              <a:t>Convexity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Arrow: Right 4"/>
          <p:cNvSpPr/>
          <p:nvPr/>
        </p:nvSpPr>
        <p:spPr>
          <a:xfrm>
            <a:off x="229237" y="1909499"/>
            <a:ext cx="978408" cy="48463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86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35D4-EE49-433F-B974-A06E83999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Gradients and 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16B2-0675-4DEB-852C-24EC01308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machine learning, we often want to minimize a loss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Gradient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 Key function</a:t>
                </a:r>
              </a:p>
              <a:p>
                <a:r>
                  <a:rPr lang="en-US" dirty="0"/>
                  <a:t>Gradient has several important properties for optimization</a:t>
                </a:r>
                <a:br>
                  <a:rPr lang="en-US" dirty="0"/>
                </a:br>
                <a:endParaRPr lang="en-US" dirty="0"/>
              </a:p>
              <a:p>
                <a:pPr lvl="1"/>
                <a:r>
                  <a:rPr lang="en-US" dirty="0"/>
                  <a:t>Provides a simple linear approximation of a function</a:t>
                </a:r>
              </a:p>
              <a:p>
                <a:pPr marL="201168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When at a local minima, 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br>
                  <a:rPr lang="en-US" b="0" dirty="0"/>
                </a:br>
                <a:endParaRPr lang="en-US" dirty="0"/>
              </a:p>
              <a:p>
                <a:pPr lvl="1"/>
                <a:r>
                  <a:rPr lang="en-US" dirty="0"/>
                  <a:t>At other points,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dirty="0"/>
                  <a:t> provides a direction of maximum decrease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316B2-0675-4DEB-852C-24EC01308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AA5B5-9961-4653-9DEE-836F57E19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62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Defined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Consider scalar-valued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r>
                  <a:rPr lang="en-US" b="0" dirty="0"/>
                  <a:t>V</a:t>
                </a:r>
                <a:r>
                  <a:rPr lang="en-US" dirty="0"/>
                  <a:t>ector input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.  Then gradient is:</a:t>
                </a:r>
                <a:br>
                  <a:rPr lang="en-US" dirty="0"/>
                </a:br>
                <a:br>
                  <a:rPr lang="en-US" b="1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li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i="1" dirty="0"/>
              </a:p>
              <a:p>
                <a:r>
                  <a:rPr lang="en-US" dirty="0"/>
                  <a:t>Matrix input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dirty="0"/>
                  <a:t>, size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.  Then gradient is:</a:t>
                </a:r>
                <a:br>
                  <a:rPr lang="en-US" dirty="0"/>
                </a:br>
                <a:br>
                  <a:rPr lang="en-US" b="1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i="1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Gradient is same size as the argument!</a:t>
                </a:r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7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FFB17-07B3-46B1-BD84-0C599D480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D6C7B-F9D4-47C0-AEEC-F10CCCDD6C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Partial derivatives: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Gradient: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Example to right:</a:t>
                </a:r>
              </a:p>
              <a:p>
                <a:pPr lvl="1"/>
                <a:r>
                  <a:rPr lang="en-US" dirty="0"/>
                  <a:t>Computes gradient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2,4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Gradient is a </a:t>
                </a:r>
                <a:r>
                  <a:rPr lang="en-US" dirty="0" err="1"/>
                  <a:t>numpy</a:t>
                </a:r>
                <a:r>
                  <a:rPr lang="en-US" dirty="0"/>
                  <a:t> vector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AD6C7B-F9D4-47C0-AEEC-F10CCCDD6C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E9EB1-5E24-4741-9783-F06DDA18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CC5757-8C4C-4BA4-92D0-66CCA9293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064" y="988906"/>
            <a:ext cx="3937554" cy="36161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AA170E-1B04-4AC7-AC0E-9ACCCA490F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064" y="4823422"/>
            <a:ext cx="2689419" cy="81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1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BE1B-AE66-49E1-BF5D-D13EF6DAF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 An Exponential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9143E-B55D-42DB-91F1-89E7989F19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243230" cy="432981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Data fitting task</a:t>
                </a:r>
                <a:r>
                  <a:rPr lang="en-US" dirty="0"/>
                  <a:t>:  </a:t>
                </a:r>
              </a:p>
              <a:p>
                <a:pPr lvl="1"/>
                <a:r>
                  <a:rPr lang="en-US" b="0" dirty="0"/>
                  <a:t>Exponential model: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MSE loss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b="0" dirty="0"/>
              </a:p>
              <a:p>
                <a:r>
                  <a:rPr lang="en-US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b="0" dirty="0"/>
                  <a:t>:  Compute gradient </a:t>
                </a:r>
                <a14:m>
                  <m:oMath xmlns:m="http://schemas.openxmlformats.org/officeDocument/2006/math">
                    <m:r>
                      <a:rPr lang="en-US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b="0" dirty="0"/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Solution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            </a:t>
                </a:r>
                <a:r>
                  <a:rPr lang="en-US" dirty="0"/>
                  <a:t>[Linearity]</a:t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= 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       </a:t>
                </a:r>
                <a:r>
                  <a:rPr lang="en-US" dirty="0"/>
                  <a:t>[Chain rule]</a:t>
                </a:r>
                <a:br>
                  <a:rPr lang="en-US" dirty="0"/>
                </a:br>
                <a:br>
                  <a:rPr lang="en-US" b="0" i="1" dirty="0">
                    <a:latin typeface="Cambria Math" panose="02040503050406030204" pitchFamily="18" charset="0"/>
                  </a:rPr>
                </a:br>
                <a:r>
                  <a:rPr lang="en-US" b="0" i="1" dirty="0">
                    <a:latin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br>
                  <a:rPr lang="en-US" dirty="0"/>
                </a:br>
                <a:endParaRPr lang="en-US" dirty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B9143E-B55D-42DB-91F1-89E7989F19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243230" cy="4329817"/>
              </a:xfrm>
              <a:blipFill>
                <a:blip r:embed="rId2"/>
                <a:stretch>
                  <a:fillRect l="-2558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A5E9-3D8C-4CB6-B931-F4721978F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272533-2011-48AB-96D7-2CE6396FB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527" y="1635226"/>
            <a:ext cx="4985797" cy="384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3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00-592E-4511-92E9-FD38D442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Gradients with Sums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A89FFD-9848-4D6D-82E1-7E5A1A8EA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Often you have to take gradient of sum with an index</a:t>
                </a:r>
              </a:p>
              <a:p>
                <a:r>
                  <a:rPr lang="en-US" dirty="0"/>
                  <a:t>Example:  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Gradient component is: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Many students get confused </a:t>
                </a:r>
              </a:p>
              <a:p>
                <a:r>
                  <a:rPr lang="en-US" dirty="0"/>
                  <a:t>What is the confusion?</a:t>
                </a:r>
              </a:p>
              <a:p>
                <a:pPr lvl="1"/>
                <a:r>
                  <a:rPr lang="en-US" dirty="0"/>
                  <a:t>There is a summation index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in the sum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There is the index of the variable we are taking the derivative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A89FFD-9848-4D6D-82E1-7E5A1A8EA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3E3C2-3F0D-4064-9A62-F4D73250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4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00-592E-4511-92E9-FD38D442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Gradients with Sums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A89FFD-9848-4D6D-82E1-7E5A1A8EA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0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⁡(−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. Want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Step 1.  Identify the </a:t>
                </a:r>
                <a:r>
                  <a:rPr lang="en-US" dirty="0">
                    <a:solidFill>
                      <a:srgbClr val="FF0000"/>
                    </a:solidFill>
                  </a:rPr>
                  <a:t>variable index</a:t>
                </a:r>
                <a:r>
                  <a:rPr lang="en-US" dirty="0"/>
                  <a:t>.  </a:t>
                </a:r>
              </a:p>
              <a:p>
                <a:pPr lvl="1"/>
                <a:r>
                  <a:rPr lang="en-US" dirty="0"/>
                  <a:t>This is index of the variable we are taking the derivative with respect to </a:t>
                </a:r>
              </a:p>
              <a:p>
                <a:pPr lvl="1"/>
                <a:r>
                  <a:rPr lang="en-US" dirty="0"/>
                  <a:t>In this case, it is index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en-US" dirty="0"/>
                  <a:t> since we are computing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Step 2.  Rewrite a </a:t>
                </a:r>
                <a:r>
                  <a:rPr lang="en-US" dirty="0">
                    <a:solidFill>
                      <a:srgbClr val="92D050"/>
                    </a:solidFill>
                  </a:rPr>
                  <a:t>summation index </a:t>
                </a:r>
                <a:r>
                  <a:rPr lang="en-US" dirty="0"/>
                  <a:t>that is different than the </a:t>
                </a:r>
                <a:r>
                  <a:rPr lang="en-US" dirty="0">
                    <a:solidFill>
                      <a:srgbClr val="FF0000"/>
                    </a:solidFill>
                  </a:rPr>
                  <a:t>variable index </a:t>
                </a:r>
                <a:r>
                  <a:rPr lang="en-US" dirty="0"/>
                  <a:t>other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Step 3.  Take the derivative on all the terms where the </a:t>
                </a:r>
                <a:r>
                  <a:rPr lang="en-US" dirty="0">
                    <a:solidFill>
                      <a:srgbClr val="92D050"/>
                    </a:solidFill>
                  </a:rPr>
                  <a:t>summation index=</a:t>
                </a:r>
                <a:r>
                  <a:rPr lang="en-US" dirty="0">
                    <a:solidFill>
                      <a:srgbClr val="FF0000"/>
                    </a:solidFill>
                  </a:rPr>
                  <a:t> variable index</a:t>
                </a:r>
                <a:r>
                  <a:rPr lang="en-US" dirty="0">
                    <a:solidFill>
                      <a:srgbClr val="92D050"/>
                    </a:solidFill>
                  </a:rPr>
                  <a:t> 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The term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⁡(−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will only contain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So,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⁡(−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⁡(−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A89FFD-9848-4D6D-82E1-7E5A1A8EA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704" b="-5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3E3C2-3F0D-4064-9A62-F4D73250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3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36533-3620-4760-AF92-CE09E5E9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117E9B-8DA1-47AA-AAD8-B8FA2EF2A8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all know chain rule for scalar functions</a:t>
                </a:r>
              </a:p>
              <a:p>
                <a:r>
                  <a:rPr lang="en-US" b="0" dirty="0"/>
                  <a:t>We have a </a:t>
                </a:r>
                <a:r>
                  <a:rPr lang="en-US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composite function</a:t>
                </a:r>
                <a:r>
                  <a:rPr lang="en-US" b="0" dirty="0"/>
                  <a:t>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is the same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Chain rule says:</a:t>
                </a: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Example: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Then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We can leave it like this or substitute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endParaRPr lang="en-US" b="0" dirty="0"/>
              </a:p>
              <a:p>
                <a:r>
                  <a:rPr lang="en-US" dirty="0"/>
                  <a:t>Excellent review at Khan Academy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117E9B-8DA1-47AA-AAD8-B8FA2EF2A8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6FE7-5B46-4C5E-BB85-9BA4DC94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03FDD2-331F-40CB-AC7E-7C4A1B06707F}"/>
              </a:ext>
            </a:extLst>
          </p:cNvPr>
          <p:cNvGrpSpPr/>
          <p:nvPr/>
        </p:nvGrpSpPr>
        <p:grpSpPr>
          <a:xfrm>
            <a:off x="7437058" y="1772044"/>
            <a:ext cx="3015848" cy="813920"/>
            <a:chOff x="7437058" y="1772044"/>
            <a:chExt cx="3015848" cy="81392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8D061D3-BA98-4D69-9274-B69C32158E02}"/>
                </a:ext>
              </a:extLst>
            </p:cNvPr>
            <p:cNvSpPr/>
            <p:nvPr/>
          </p:nvSpPr>
          <p:spPr>
            <a:xfrm>
              <a:off x="7472855" y="1772044"/>
              <a:ext cx="296392" cy="29639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71FAABA-00A6-4772-B651-586EED9C0B22}"/>
                </a:ext>
              </a:extLst>
            </p:cNvPr>
            <p:cNvSpPr/>
            <p:nvPr/>
          </p:nvSpPr>
          <p:spPr>
            <a:xfrm>
              <a:off x="8798209" y="1772044"/>
              <a:ext cx="296392" cy="29639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5163C8B-C0A5-4910-BFC8-836891CCA150}"/>
                </a:ext>
              </a:extLst>
            </p:cNvPr>
            <p:cNvSpPr/>
            <p:nvPr/>
          </p:nvSpPr>
          <p:spPr>
            <a:xfrm>
              <a:off x="10079420" y="1772044"/>
              <a:ext cx="296392" cy="29639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58BF0B4-1868-49F6-9133-B0DE82C717C3}"/>
                </a:ext>
              </a:extLst>
            </p:cNvPr>
            <p:cNvCxnSpPr>
              <a:stCxn id="5" idx="6"/>
            </p:cNvCxnSpPr>
            <p:nvPr/>
          </p:nvCxnSpPr>
          <p:spPr>
            <a:xfrm>
              <a:off x="7769247" y="1920240"/>
              <a:ext cx="102896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82BCB46-227C-4B69-94EC-71FC173A90AC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9094601" y="1920240"/>
              <a:ext cx="98481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0ADC9B7-CEBD-48A6-9270-A06E20A8C152}"/>
                    </a:ext>
                  </a:extLst>
                </p:cNvPr>
                <p:cNvSpPr txBox="1"/>
                <p:nvPr/>
              </p:nvSpPr>
              <p:spPr>
                <a:xfrm>
                  <a:off x="7437058" y="2216632"/>
                  <a:ext cx="3679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0ADC9B7-CEBD-48A6-9270-A06E20A8C1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7058" y="2216632"/>
                  <a:ext cx="36798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4506CF-8001-4A25-8DEC-D91CA9DBE3DF}"/>
                    </a:ext>
                  </a:extLst>
                </p:cNvPr>
                <p:cNvSpPr txBox="1"/>
                <p:nvPr/>
              </p:nvSpPr>
              <p:spPr>
                <a:xfrm>
                  <a:off x="8798209" y="2216632"/>
                  <a:ext cx="35375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84506CF-8001-4A25-8DEC-D91CA9DBE3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98209" y="2216632"/>
                  <a:ext cx="353751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3EAE7AE-FB5E-4346-8324-2AE40D130520}"/>
                    </a:ext>
                  </a:extLst>
                </p:cNvPr>
                <p:cNvSpPr txBox="1"/>
                <p:nvPr/>
              </p:nvSpPr>
              <p:spPr>
                <a:xfrm>
                  <a:off x="10081522" y="2180749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73EAE7AE-FB5E-4346-8324-2AE40D1305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81522" y="2180749"/>
                  <a:ext cx="371384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467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671567-BB8C-403F-B191-E76475703C82}"/>
              </a:ext>
            </a:extLst>
          </p:cNvPr>
          <p:cNvSpPr/>
          <p:nvPr/>
        </p:nvSpPr>
        <p:spPr>
          <a:xfrm>
            <a:off x="2558642" y="3492915"/>
            <a:ext cx="2541864" cy="126364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836533-3620-4760-AF92-CE09E5E9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Multi-Variable Chain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117E9B-8DA1-47AA-AAD8-B8FA2EF2A8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48523" cy="4329817"/>
              </a:xfrm>
            </p:spPr>
            <p:txBody>
              <a:bodyPr>
                <a:normAutofit/>
              </a:bodyPr>
              <a:lstStyle/>
              <a:p>
                <a:r>
                  <a:rPr lang="en-US" b="0" dirty="0"/>
                  <a:t>We have a </a:t>
                </a:r>
                <a:r>
                  <a:rPr lang="en-US" b="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multi-variable composite function</a:t>
                </a:r>
                <a:r>
                  <a:rPr lang="en-US" b="0" dirty="0"/>
                  <a:t>: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You can visualize the dependencies with a graph</a:t>
                </a:r>
              </a:p>
              <a:p>
                <a:r>
                  <a:rPr lang="en-US" dirty="0"/>
                  <a:t>Multi-variable chain rule: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117E9B-8DA1-47AA-AAD8-B8FA2EF2A8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48523" cy="4329817"/>
              </a:xfrm>
              <a:blipFill>
                <a:blip r:embed="rId2"/>
                <a:stretch>
                  <a:fillRect l="-268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6FE7-5B46-4C5E-BB85-9BA4DC94C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CCC703-E86D-46D5-AB74-969E4C3B9F4A}"/>
              </a:ext>
            </a:extLst>
          </p:cNvPr>
          <p:cNvGrpSpPr/>
          <p:nvPr/>
        </p:nvGrpSpPr>
        <p:grpSpPr>
          <a:xfrm>
            <a:off x="7359988" y="1832746"/>
            <a:ext cx="3734732" cy="2104828"/>
            <a:chOff x="7359988" y="1832746"/>
            <a:chExt cx="3734732" cy="210482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1A6BE74-29AE-4C4F-AEE7-D7D7BA86320C}"/>
                </a:ext>
              </a:extLst>
            </p:cNvPr>
            <p:cNvSpPr/>
            <p:nvPr/>
          </p:nvSpPr>
          <p:spPr>
            <a:xfrm>
              <a:off x="7853135" y="2314449"/>
              <a:ext cx="296392" cy="29639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9B0A85C-08D9-4A0E-B4DB-1C846F6BD6F0}"/>
                </a:ext>
              </a:extLst>
            </p:cNvPr>
            <p:cNvSpPr/>
            <p:nvPr/>
          </p:nvSpPr>
          <p:spPr>
            <a:xfrm>
              <a:off x="9187147" y="2239861"/>
              <a:ext cx="296392" cy="29639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32360DE-82A1-4129-B896-D3FE2381F53F}"/>
                </a:ext>
              </a:extLst>
            </p:cNvPr>
            <p:cNvSpPr/>
            <p:nvPr/>
          </p:nvSpPr>
          <p:spPr>
            <a:xfrm>
              <a:off x="10468109" y="2711381"/>
              <a:ext cx="296392" cy="29639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8B7B0E2-DD18-4BDF-AF2A-877EE0A64935}"/>
                </a:ext>
              </a:extLst>
            </p:cNvPr>
            <p:cNvCxnSpPr>
              <a:cxnSpLocks/>
              <a:stCxn id="5" idx="6"/>
              <a:endCxn id="6" idx="2"/>
            </p:cNvCxnSpPr>
            <p:nvPr/>
          </p:nvCxnSpPr>
          <p:spPr>
            <a:xfrm flipV="1">
              <a:off x="8149527" y="2388057"/>
              <a:ext cx="1037620" cy="745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AE6E86C-D169-4654-9E04-5140C6DE327A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9483539" y="2388057"/>
              <a:ext cx="984570" cy="4715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6F947A2-B738-4822-BD23-D42843923C4B}"/>
                    </a:ext>
                  </a:extLst>
                </p:cNvPr>
                <p:cNvSpPr txBox="1"/>
                <p:nvPr/>
              </p:nvSpPr>
              <p:spPr>
                <a:xfrm>
                  <a:off x="7397582" y="3233626"/>
                  <a:ext cx="510204" cy="3907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6F947A2-B738-4822-BD23-D42843923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7582" y="3233626"/>
                  <a:ext cx="510204" cy="390748"/>
                </a:xfrm>
                <a:prstGeom prst="rect">
                  <a:avLst/>
                </a:prstGeom>
                <a:blipFill>
                  <a:blip r:embed="rId3"/>
                  <a:stretch>
                    <a:fillRect b="-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0E67B37-4498-47CA-8B03-278705E3A0DC}"/>
                    </a:ext>
                  </a:extLst>
                </p:cNvPr>
                <p:cNvSpPr txBox="1"/>
                <p:nvPr/>
              </p:nvSpPr>
              <p:spPr>
                <a:xfrm>
                  <a:off x="8950765" y="1832746"/>
                  <a:ext cx="4461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0E67B37-4498-47CA-8B03-278705E3A0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50765" y="1832746"/>
                  <a:ext cx="44614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2D14E8C-154C-46CD-96C5-BCD61BBEAB5F}"/>
                    </a:ext>
                  </a:extLst>
                </p:cNvPr>
                <p:cNvSpPr txBox="1"/>
                <p:nvPr/>
              </p:nvSpPr>
              <p:spPr>
                <a:xfrm>
                  <a:off x="10764501" y="2655465"/>
                  <a:ext cx="3302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2D14E8C-154C-46CD-96C5-BCD61BBEAB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64501" y="2655465"/>
                  <a:ext cx="330219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216BD54-AEAF-4160-B9EF-CF50A6A5ABC4}"/>
                </a:ext>
              </a:extLst>
            </p:cNvPr>
            <p:cNvSpPr/>
            <p:nvPr/>
          </p:nvSpPr>
          <p:spPr>
            <a:xfrm>
              <a:off x="7861792" y="3344719"/>
              <a:ext cx="296392" cy="29639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1EF3864-FF81-4433-8D8F-E5CB11B5CED3}"/>
                    </a:ext>
                  </a:extLst>
                </p:cNvPr>
                <p:cNvSpPr txBox="1"/>
                <p:nvPr/>
              </p:nvSpPr>
              <p:spPr>
                <a:xfrm>
                  <a:off x="7359988" y="2166921"/>
                  <a:ext cx="5018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1EF3864-FF81-4433-8D8F-E5CB11B5CE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9988" y="2166921"/>
                  <a:ext cx="50180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DB9DC5F-2F3B-460C-98F8-9FE80B0DE6E9}"/>
                </a:ext>
              </a:extLst>
            </p:cNvPr>
            <p:cNvSpPr/>
            <p:nvPr/>
          </p:nvSpPr>
          <p:spPr>
            <a:xfrm>
              <a:off x="9225234" y="3429000"/>
              <a:ext cx="296392" cy="29639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52E5A8-E2CF-44AC-BCE5-FC1FC2F62026}"/>
                </a:ext>
              </a:extLst>
            </p:cNvPr>
            <p:cNvSpPr/>
            <p:nvPr/>
          </p:nvSpPr>
          <p:spPr>
            <a:xfrm>
              <a:off x="7853135" y="2719526"/>
              <a:ext cx="296392" cy="29639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78F8AF3-DED3-4509-A426-574F85BC7AD1}"/>
                </a:ext>
              </a:extLst>
            </p:cNvPr>
            <p:cNvSpPr/>
            <p:nvPr/>
          </p:nvSpPr>
          <p:spPr>
            <a:xfrm>
              <a:off x="9195804" y="2620824"/>
              <a:ext cx="296392" cy="29639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E8C6908-1035-49DD-93F8-DE1B7F641DB6}"/>
                    </a:ext>
                  </a:extLst>
                </p:cNvPr>
                <p:cNvSpPr txBox="1"/>
                <p:nvPr/>
              </p:nvSpPr>
              <p:spPr>
                <a:xfrm>
                  <a:off x="8883873" y="3568242"/>
                  <a:ext cx="46557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3E8C6908-1035-49DD-93F8-DE1B7F641D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3873" y="3568242"/>
                  <a:ext cx="465577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8DDFCFEE-6EA1-4E7A-B0EA-4DCBF84D25B8}"/>
                </a:ext>
              </a:extLst>
            </p:cNvPr>
            <p:cNvCxnSpPr>
              <a:stCxn id="17" idx="6"/>
            </p:cNvCxnSpPr>
            <p:nvPr/>
          </p:nvCxnSpPr>
          <p:spPr>
            <a:xfrm flipV="1">
              <a:off x="8149527" y="2425351"/>
              <a:ext cx="1037620" cy="4423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969B8CF4-45C3-4111-9AF7-B98EB8AA1B00}"/>
                </a:ext>
              </a:extLst>
            </p:cNvPr>
            <p:cNvCxnSpPr>
              <a:stCxn id="13" idx="6"/>
            </p:cNvCxnSpPr>
            <p:nvPr/>
          </p:nvCxnSpPr>
          <p:spPr>
            <a:xfrm flipV="1">
              <a:off x="8158184" y="2399318"/>
              <a:ext cx="1037620" cy="10935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FDD46FF-CAEA-41BD-B8F2-DB2822F441D5}"/>
                </a:ext>
              </a:extLst>
            </p:cNvPr>
            <p:cNvCxnSpPr>
              <a:endCxn id="18" idx="2"/>
            </p:cNvCxnSpPr>
            <p:nvPr/>
          </p:nvCxnSpPr>
          <p:spPr>
            <a:xfrm>
              <a:off x="8177628" y="2484137"/>
              <a:ext cx="1018176" cy="28488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F284ABA-24D1-46D1-A20E-7B511734C328}"/>
                </a:ext>
              </a:extLst>
            </p:cNvPr>
            <p:cNvCxnSpPr>
              <a:stCxn id="5" idx="6"/>
            </p:cNvCxnSpPr>
            <p:nvPr/>
          </p:nvCxnSpPr>
          <p:spPr>
            <a:xfrm>
              <a:off x="8149527" y="2462645"/>
              <a:ext cx="1103796" cy="11617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07B2C71-E6CE-4BD9-BEAA-4F1E6D01FB3E}"/>
                </a:ext>
              </a:extLst>
            </p:cNvPr>
            <p:cNvCxnSpPr>
              <a:stCxn id="13" idx="6"/>
            </p:cNvCxnSpPr>
            <p:nvPr/>
          </p:nvCxnSpPr>
          <p:spPr>
            <a:xfrm>
              <a:off x="8158184" y="3492915"/>
              <a:ext cx="1095139" cy="842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042965B-4F18-415F-92DE-43AAC423EFA5}"/>
                </a:ext>
              </a:extLst>
            </p:cNvPr>
            <p:cNvCxnSpPr>
              <a:stCxn id="17" idx="6"/>
              <a:endCxn id="18" idx="2"/>
            </p:cNvCxnSpPr>
            <p:nvPr/>
          </p:nvCxnSpPr>
          <p:spPr>
            <a:xfrm flipV="1">
              <a:off x="8149527" y="2769020"/>
              <a:ext cx="1046277" cy="987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3FA0F01-0080-4BE3-ABFA-594604208B6C}"/>
                </a:ext>
              </a:extLst>
            </p:cNvPr>
            <p:cNvCxnSpPr>
              <a:stCxn id="18" idx="6"/>
              <a:endCxn id="7" idx="2"/>
            </p:cNvCxnSpPr>
            <p:nvPr/>
          </p:nvCxnSpPr>
          <p:spPr>
            <a:xfrm>
              <a:off x="9492196" y="2769020"/>
              <a:ext cx="975913" cy="9055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BBC4D92-BD6F-4D3E-AAD4-7F1EADE7E44E}"/>
                </a:ext>
              </a:extLst>
            </p:cNvPr>
            <p:cNvCxnSpPr>
              <a:stCxn id="15" idx="6"/>
              <a:endCxn id="7" idx="2"/>
            </p:cNvCxnSpPr>
            <p:nvPr/>
          </p:nvCxnSpPr>
          <p:spPr>
            <a:xfrm flipV="1">
              <a:off x="9521626" y="2859577"/>
              <a:ext cx="946483" cy="7176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8AC9DDE-3A34-4B6B-9716-EFC18A2E904C}"/>
                    </a:ext>
                  </a:extLst>
                </p:cNvPr>
                <p:cNvSpPr txBox="1"/>
                <p:nvPr/>
              </p:nvSpPr>
              <p:spPr>
                <a:xfrm>
                  <a:off x="7881224" y="2995366"/>
                  <a:ext cx="3097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8AC9DDE-3A34-4B6B-9716-EFC18A2E90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1224" y="2995366"/>
                  <a:ext cx="30970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E0D24CA-C9A8-4119-BCDC-D9BB6E80534A}"/>
                    </a:ext>
                  </a:extLst>
                </p:cNvPr>
                <p:cNvSpPr txBox="1"/>
                <p:nvPr/>
              </p:nvSpPr>
              <p:spPr>
                <a:xfrm>
                  <a:off x="9173839" y="3003517"/>
                  <a:ext cx="3097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7E0D24CA-C9A8-4119-BCDC-D9BB6E8053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3839" y="3003517"/>
                  <a:ext cx="30970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0938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21D1-936B-4DCB-BE9D-ED53A531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3:  Log-Linear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A1CBA-A0AE-4041-BC87-B05585E8B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Given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Data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Model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s-ES" b="0" i="1" smtClean="0">
                        <a:latin typeface="Cambria Math" panose="02040503050406030204" pitchFamily="18" charset="0"/>
                      </a:rPr>
                      <m:t>,  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MSE loss function: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dirty="0"/>
                  <a:t>:  Find gradient component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Solution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 matrix with ones on the first column</a:t>
                </a:r>
              </a:p>
              <a:p>
                <a:pPr lvl="1"/>
                <a:r>
                  <a:rPr lang="en-US" dirty="0"/>
                  <a:t>Then,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 multi-variable chain rule:</a:t>
                </a:r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A1CBA-A0AE-4041-BC87-B05585E8B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079EA-4180-4DBF-97CC-5CF6B51E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75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721D1-936B-4DCB-BE9D-ED53A531A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3: Matrix Version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A1CBA-A0AE-4041-BC87-B05585E8B5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From previous slide: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nary>
                      <m:naryPr>
                        <m:chr m:val="∑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Can implement these with matrix operations:</a:t>
                </a:r>
              </a:p>
              <a:p>
                <a:pPr lvl="1"/>
                <a:r>
                  <a:rPr lang="en-US" dirty="0"/>
                  <a:t>Useful for efficient implementation in python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𝑨𝒘</m:t>
                    </m:r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𝒛</m:t>
                        </m:r>
                      </m:den>
                    </m:f>
                  </m:oMath>
                </a14:m>
                <a:r>
                  <a:rPr lang="en-US" b="0" dirty="0"/>
                  <a:t>  [elementwise division]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𝒛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7A1CBA-A0AE-4041-BC87-B05585E8B5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079EA-4180-4DBF-97CC-5CF6B51E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6A63E-7658-40F1-B8CF-6998B56F8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519" y="1539277"/>
            <a:ext cx="4634433" cy="411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8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C725FC-30F6-44B7-B76E-7A557AADC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553" y="1539277"/>
            <a:ext cx="4072266" cy="40722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0FE77D-5189-467E-9C3A-17D6FC4D1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First-Order Approximations</a:t>
            </a:r>
            <a:br>
              <a:rPr lang="en-US" dirty="0"/>
            </a:br>
            <a:r>
              <a:rPr lang="en-US" sz="4000" dirty="0"/>
              <a:t>Scalar-Input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4D144-47D4-4031-A82D-E61D4D22D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918375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Consider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with scalar input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First-order approximation</a:t>
                </a:r>
                <a:r>
                  <a:rPr lang="en-US" dirty="0"/>
                  <a:t> for a scalar input function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Approximates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by a linear function</a:t>
                </a:r>
              </a:p>
              <a:p>
                <a:pPr lvl="1"/>
                <a:r>
                  <a:rPr lang="en-US" dirty="0"/>
                  <a:t>Derivative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slope</a:t>
                </a:r>
              </a:p>
              <a:p>
                <a:endParaRPr lang="en-US" dirty="0"/>
              </a:p>
              <a:p>
                <a:r>
                  <a:rPr lang="en-US" dirty="0"/>
                  <a:t>What is the equivalent for vector-input functions?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4D144-47D4-4031-A82D-E61D4D22D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918375" cy="4329817"/>
              </a:xfrm>
              <a:blipFill>
                <a:blip r:embed="rId3"/>
                <a:stretch>
                  <a:fillRect l="-2472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B6810-6639-40E5-A98B-B9365C96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9E7401-97F3-43CE-A58C-6B3A583A3462}"/>
                  </a:ext>
                </a:extLst>
              </p:cNvPr>
              <p:cNvSpPr txBox="1"/>
              <p:nvPr/>
            </p:nvSpPr>
            <p:spPr>
              <a:xfrm flipH="1">
                <a:off x="8991175" y="3381019"/>
                <a:ext cx="333528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/>
                  <a:t>Linear approximation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69E7401-97F3-43CE-A58C-6B3A583A3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991175" y="3381019"/>
                <a:ext cx="3335288" cy="646331"/>
              </a:xfrm>
              <a:prstGeom prst="rect">
                <a:avLst/>
              </a:prstGeom>
              <a:blipFill>
                <a:blip r:embed="rId4"/>
                <a:stretch>
                  <a:fillRect l="-1645" t="-5660" b="-7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8797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E77D-5189-467E-9C3A-17D6FC4D1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First-Order Approximations</a:t>
            </a:r>
            <a:br>
              <a:rPr lang="en-US" dirty="0"/>
            </a:br>
            <a:r>
              <a:rPr lang="en-US" sz="4000" dirty="0"/>
              <a:t>Vector Input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4D144-47D4-4031-A82D-E61D4D22D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10222361" cy="432981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dirty="0"/>
                  <a:t> takes a vector input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Fix a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for any other point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gradients can be used for first order approximation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Linear function in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Change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dirty="0"/>
                  <a:t> given by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inner product</a:t>
                </a:r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4D144-47D4-4031-A82D-E61D4D22D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10222361" cy="4329817"/>
              </a:xfrm>
              <a:blipFill>
                <a:blip r:embed="rId2"/>
                <a:stretch>
                  <a:fillRect l="-1431" t="-18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B6810-6639-40E5-A98B-B9365C96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21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7ED6-BEDB-462D-9EE5-3FE383491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DC5E7A-2B28-40C4-B0F8-B5F57D49C4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917626" cy="4329817"/>
              </a:xfrm>
            </p:spPr>
            <p:txBody>
              <a:bodyPr/>
              <a:lstStyle/>
              <a:p>
                <a:r>
                  <a:rPr lang="en-US" dirty="0"/>
                  <a:t>Always check gradients before using</a:t>
                </a:r>
              </a:p>
              <a:p>
                <a:pPr lvl="1"/>
                <a:r>
                  <a:rPr lang="en-US" dirty="0"/>
                  <a:t>Even good developers make mistakes!</a:t>
                </a:r>
              </a:p>
              <a:p>
                <a:r>
                  <a:rPr lang="en-US" dirty="0"/>
                  <a:t>Simple check:</a:t>
                </a:r>
              </a:p>
              <a:p>
                <a:pPr lvl="1"/>
                <a:r>
                  <a:rPr lang="en-US" dirty="0"/>
                  <a:t>Take some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Evaluate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∇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s-E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Take a second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close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Evaluate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Verify that: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𝐽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s-E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DC5E7A-2B28-40C4-B0F8-B5F57D49C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917626" cy="4329817"/>
              </a:xfrm>
              <a:blipFill>
                <a:blip r:embed="rId2"/>
                <a:stretch>
                  <a:fillRect l="-2974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E7190E-A361-4AD4-AADA-931840715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A677E9-F588-44CC-8C23-B3FBBA959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203" y="1428750"/>
            <a:ext cx="39814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7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F224-5177-4E1E-998A-06BEA48C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Gradients and Stationary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ED6599-10F0-464D-BFF9-CA9B67D524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Stationary point</a:t>
                </a:r>
                <a:r>
                  <a:rPr lang="en-US" dirty="0"/>
                  <a:t>:  Any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Occurs at any local maxima or minima</a:t>
                </a:r>
              </a:p>
              <a:p>
                <a:r>
                  <a:rPr lang="en-US" dirty="0"/>
                  <a:t>Also, any saddle point</a:t>
                </a:r>
              </a:p>
              <a:p>
                <a:r>
                  <a:rPr lang="en-US" dirty="0"/>
                  <a:t>In linear regression: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dirty="0"/>
                  <a:t> = RSS loss function</a:t>
                </a:r>
              </a:p>
              <a:p>
                <a:pPr lvl="1"/>
                <a:r>
                  <a:rPr lang="en-US" dirty="0"/>
                  <a:t>Solved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But, often cannot explicitly solve for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6ED6599-10F0-464D-BFF9-CA9B67D52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1B4D5-305E-453F-8C67-8FDC99408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pic>
        <p:nvPicPr>
          <p:cNvPr id="2050" name="Picture 2" descr="http://www.teacherschoice.com.au/Maths_Library/Calculus/statio1.gif">
            <a:extLst>
              <a:ext uri="{FF2B5EF4-FFF2-40B4-BE49-F238E27FC236}">
                <a16:creationId xmlns:a16="http://schemas.microsoft.com/office/drawing/2014/main" id="{982F658A-6D13-48D9-B5F4-667EB9CD0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8431" y="2416996"/>
            <a:ext cx="4276725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325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D0DA8-16FA-444E-BCFF-E2E1C37DE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 of Maximum Increase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BBB6D0-47FB-4F1B-B668-09C7F6654A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7049193" cy="4329817"/>
              </a:xfrm>
            </p:spPr>
            <p:txBody>
              <a:bodyPr/>
              <a:lstStyle/>
              <a:p>
                <a:r>
                  <a:rPr lang="en-US" dirty="0"/>
                  <a:t>Gradient indicates direction of maximum increase:</a:t>
                </a:r>
              </a:p>
              <a:p>
                <a:r>
                  <a:rPr lang="en-US" dirty="0"/>
                  <a:t>Take a starting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Change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direction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d>
                      <m:dPr>
                        <m:begChr m:val="‖"/>
                        <m:endChr m:val="‖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r>
                  <a:rPr lang="en-US" dirty="0"/>
                  <a:t>Maximum increase when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Maximum decrease when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BBB6D0-47FB-4F1B-B668-09C7F6654A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7049193" cy="4329817"/>
              </a:xfrm>
              <a:blipFill>
                <a:blip r:embed="rId2"/>
                <a:stretch>
                  <a:fillRect l="-2076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DD0DD-807F-4380-9A74-DB47BE0DF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D7AAC8-26AC-46B3-94B0-AF6175DEC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468" y="1696295"/>
            <a:ext cx="2486025" cy="1838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FA065F-5035-46FC-9C50-EDBA1BF97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390" y="4019569"/>
            <a:ext cx="25241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7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E77D-5189-467E-9C3A-17D6FC4D1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First-Order Approximations</a:t>
            </a:r>
            <a:br>
              <a:rPr lang="en-US" dirty="0"/>
            </a:br>
            <a:r>
              <a:rPr lang="en-US" sz="4000" dirty="0"/>
              <a:t>Matrix Input Functions (Advanced)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4D144-47D4-4031-A82D-E61D4D22D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10222361" cy="432981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</m:oMath>
                </a14:m>
                <a:r>
                  <a:rPr lang="en-US" dirty="0"/>
                  <a:t> takes a matrix input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First order approximation formula: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0,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Change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</m:oMath>
                </a14:m>
                <a:r>
                  <a:rPr lang="en-US" dirty="0"/>
                  <a:t> given by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matrix inner product</a:t>
                </a:r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⟨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Similar to the vector formula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4D144-47D4-4031-A82D-E61D4D22D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10222361" cy="4329817"/>
              </a:xfrm>
              <a:blipFill>
                <a:blip r:embed="rId2"/>
                <a:stretch>
                  <a:fillRect l="-1431" t="-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B6810-6639-40E5-A98B-B9365C968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015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021D3-8E53-42E7-889A-4F230472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4:  Matrix-Input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9229AE-0FF3-4E86-8FBD-80C598DB8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𝑾𝒃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Matrix input / scalar output</a:t>
                </a:r>
              </a:p>
              <a:p>
                <a:r>
                  <a:rPr lang="en-US" dirty="0"/>
                  <a:t>Then,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𝑾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Partial derivatives: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Gradient: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⋯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is called the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outer product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9229AE-0FF3-4E86-8FBD-80C598DB8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F70B2-71EB-40F6-A3CD-00464DFD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324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021D3-8E53-42E7-889A-4F2304727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 in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9229AE-0FF3-4E86-8FBD-80C598DB8E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𝑾𝒃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Use python `dot` for matrix-vector products</a:t>
                </a:r>
              </a:p>
              <a:p>
                <a:endParaRPr lang="en-US" dirty="0"/>
              </a:p>
              <a:p>
                <a:r>
                  <a:rPr lang="en-US" dirty="0"/>
                  <a:t>Gradient: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Want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fgrad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[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i,j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] = a[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]b[j]</a:t>
                </a:r>
              </a:p>
              <a:p>
                <a:pPr lvl="1"/>
                <a:r>
                  <a:rPr lang="en-US" dirty="0">
                    <a:cs typeface="Arial" panose="020B0604020202020204" pitchFamily="34" charset="0"/>
                  </a:rPr>
                  <a:t>Avoid for-loops</a:t>
                </a:r>
              </a:p>
              <a:p>
                <a:pPr lvl="1"/>
                <a:r>
                  <a:rPr lang="en-US" dirty="0"/>
                  <a:t>Use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python broadcasting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a[:,None]</a:t>
                </a:r>
                <a:r>
                  <a:rPr lang="en-US" dirty="0"/>
                  <a:t> = m x 1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b[None,:] </a:t>
                </a:r>
                <a:r>
                  <a:rPr lang="en-US" dirty="0"/>
                  <a:t>= 1 x n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9229AE-0FF3-4E86-8FBD-80C598DB8E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F70B2-71EB-40F6-A3CD-00464DFD5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EA35D-C816-4FE3-AD3F-047771A6D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409" y="1326814"/>
            <a:ext cx="4458650" cy="392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705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4A05F-20A1-4600-B3C8-D2C1FB02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BCA4E-4D5A-4521-B8C7-747B4852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097AE-3671-4045-9AF9-95E0038E4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69688"/>
            <a:ext cx="6067425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20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example:  Build an optimizer for logistic regression</a:t>
            </a:r>
          </a:p>
          <a:p>
            <a:r>
              <a:rPr lang="en-US" dirty="0"/>
              <a:t>Gradients of multi-variable functions</a:t>
            </a:r>
          </a:p>
          <a:p>
            <a:r>
              <a:rPr lang="en-US" dirty="0"/>
              <a:t>Gradient descent</a:t>
            </a:r>
          </a:p>
          <a:p>
            <a:r>
              <a:rPr lang="en-US" dirty="0"/>
              <a:t>Adaptive step size</a:t>
            </a:r>
          </a:p>
          <a:p>
            <a:r>
              <a:rPr lang="en-US" dirty="0"/>
              <a:t>Convexity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Arrow: Right 4"/>
          <p:cNvSpPr/>
          <p:nvPr/>
        </p:nvSpPr>
        <p:spPr>
          <a:xfrm>
            <a:off x="281990" y="2393076"/>
            <a:ext cx="978408" cy="48463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44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Unconstrained Optimization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Problem</a:t>
                </a:r>
                <a:r>
                  <a:rPr lang="en-US" sz="2400" dirty="0"/>
                  <a:t>:  </a:t>
                </a:r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find the minimum</a:t>
                </a:r>
                <a:r>
                  <a:rPr lang="en-US" sz="2400" dirty="0"/>
                  <a:t>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the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objective</a:t>
                </a:r>
                <a:r>
                  <a:rPr lang="en-US" dirty="0"/>
                  <a:t>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a vector of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decision variables </a:t>
                </a:r>
                <a:r>
                  <a:rPr lang="en-US" dirty="0"/>
                  <a:t>or parameters</a:t>
                </a:r>
              </a:p>
              <a:p>
                <a:endParaRPr lang="en-US" dirty="0"/>
              </a:p>
              <a:p>
                <a:r>
                  <a:rPr lang="en-US" dirty="0"/>
                  <a:t>Called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unconstrained</a:t>
                </a:r>
                <a:r>
                  <a:rPr lang="en-US" dirty="0"/>
                  <a:t> since there are no constraints 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Will discuss constrained optimization briefly later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697" t="-1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356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Optimization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We saw that we can find minima by setting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equations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unknowns.  </a:t>
                </a:r>
              </a:p>
              <a:p>
                <a:pPr lvl="1"/>
                <a:r>
                  <a:rPr lang="en-US" dirty="0"/>
                  <a:t>May not have closed-form solution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Numerical methods</a:t>
                </a:r>
                <a:r>
                  <a:rPr lang="en-US" dirty="0"/>
                  <a:t>:  Finds a sequence of estimates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that converges to the true solution</a:t>
                </a: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Or converges to some other “good” minima</a:t>
                </a:r>
              </a:p>
              <a:p>
                <a:pPr lvl="1"/>
                <a:r>
                  <a:rPr lang="en-US" dirty="0"/>
                  <a:t>Run on a computer program, like python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261" t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5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Most simple method for unconstrained optimization</a:t>
                </a:r>
              </a:p>
              <a:p>
                <a:r>
                  <a:rPr lang="en-US" dirty="0"/>
                  <a:t>Key property of gradient,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dirty="0"/>
                  <a:t>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Points in the direction of steepest decrease</a:t>
                </a:r>
              </a:p>
              <a:p>
                <a:r>
                  <a:rPr lang="en-US" dirty="0"/>
                  <a:t>Gradient descent algorithm:</a:t>
                </a:r>
              </a:p>
              <a:p>
                <a:pPr lvl="1"/>
                <a:r>
                  <a:rPr lang="en-US" dirty="0"/>
                  <a:t>Start with initial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Repeat until some stopping criteria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is called the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step size</a:t>
                </a:r>
              </a:p>
              <a:p>
                <a:pPr lvl="1"/>
                <a:r>
                  <a:rPr lang="en-US" dirty="0"/>
                  <a:t>In machine learning, this is called the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learning rate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2920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Illustrated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32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514600" y="5105400"/>
                <a:ext cx="1371600" cy="9144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514600" y="5105400"/>
                <a:ext cx="1371600" cy="914400"/>
              </a:xfrm>
              <a:blipFill>
                <a:blip r:embed="rId2"/>
                <a:stretch>
                  <a:fillRect l="-10667" t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Image result for gradient desc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722438"/>
            <a:ext cx="2983656" cy="3078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gradient desc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412558"/>
            <a:ext cx="2743200" cy="301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3"/>
              <p:cNvSpPr txBox="1">
                <a:spLocks/>
              </p:cNvSpPr>
              <p:nvPr/>
            </p:nvSpPr>
            <p:spPr>
              <a:xfrm>
                <a:off x="7315200" y="4876800"/>
                <a:ext cx="1371600" cy="914400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l" rtl="0" eaLnBrk="1" latinLnBrk="0" hangingPunct="1">
                  <a:spcBef>
                    <a:spcPts val="580"/>
                  </a:spcBef>
                  <a:buClr>
                    <a:schemeClr val="accent1"/>
                  </a:buClr>
                  <a:buSzPct val="85000"/>
                  <a:buFont typeface="Wingdings 2"/>
                  <a:buChar char="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SzPct val="85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SzPct val="85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SzPct val="80000"/>
                  <a:buFont typeface="Wingdings 2"/>
                  <a:buChar char="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FontTx/>
                  <a:buChar char="o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228600" algn="l" rtl="0" eaLnBrk="1" latinLnBrk="0" hangingPunct="1">
                  <a:spcBef>
                    <a:spcPts val="370"/>
                  </a:spcBef>
                  <a:buClr>
                    <a:schemeClr val="accent3"/>
                  </a:buClr>
                  <a:buChar char="•"/>
                  <a:defRPr kumimoji="0" sz="18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228600" algn="l" rtl="0" eaLnBrk="1" latinLnBrk="0" hangingPunct="1">
                  <a:spcBef>
                    <a:spcPts val="370"/>
                  </a:spcBef>
                  <a:buClr>
                    <a:schemeClr val="accent2"/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94560" indent="-228600" algn="l" rtl="0" eaLnBrk="1" latinLnBrk="0" hangingPunct="1">
                  <a:spcBef>
                    <a:spcPts val="370"/>
                  </a:spcBef>
                  <a:buClr>
                    <a:schemeClr val="accent1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468880" indent="-228600" algn="l" rtl="0" eaLnBrk="1" latinLnBrk="0" hangingPunct="1">
                  <a:spcBef>
                    <a:spcPts val="370"/>
                  </a:spcBef>
                  <a:buClr>
                    <a:schemeClr val="accent2">
                      <a:tint val="60000"/>
                    </a:schemeClr>
                  </a:buClr>
                  <a:buChar char="•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914400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4876800"/>
                <a:ext cx="137160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6133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Analysis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Using gradient update rule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b="0" dirty="0"/>
              </a:p>
              <a:p>
                <a:r>
                  <a:rPr lang="en-US" dirty="0"/>
                  <a:t>Consequence:  If step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small,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decreases</a:t>
                </a:r>
              </a:p>
              <a:p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Theorem</a:t>
                </a:r>
                <a:r>
                  <a:rPr lang="en-US" dirty="0"/>
                  <a:t>:</a:t>
                </a:r>
              </a:p>
              <a:p>
                <a:pPr marL="201168" lvl="1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′′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dirty="0"/>
                  <a:t> is bounded above,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dirty="0"/>
                  <a:t> is bounded below,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chosen sufficiently small, </a:t>
                </a:r>
              </a:p>
              <a:p>
                <a:pPr marL="201168" lvl="1" indent="0">
                  <a:buNone/>
                </a:pPr>
                <a:r>
                  <a:rPr lang="en-US" dirty="0"/>
                  <a:t>Then gradient descent converges to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local</a:t>
                </a:r>
                <a:r>
                  <a:rPr lang="en-US" dirty="0"/>
                  <a:t> minima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38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vs. Global Minima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185794" y="1769976"/>
                <a:ext cx="6298734" cy="3674479"/>
              </a:xfrm>
            </p:spPr>
            <p:txBody>
              <a:bodyPr/>
              <a:lstStyle/>
              <a:p>
                <a:r>
                  <a:rPr lang="en-US" dirty="0"/>
                  <a:t>Definitions: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a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global minima </a:t>
                </a:r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is a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local minima </a:t>
                </a:r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in some open neighborhood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Most numerical methods:</a:t>
                </a:r>
              </a:p>
              <a:p>
                <a:pPr lvl="1"/>
                <a:r>
                  <a:rPr lang="en-US" dirty="0"/>
                  <a:t>Generally only guarantee convergence to </a:t>
                </a:r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local minima</a:t>
                </a:r>
              </a:p>
              <a:p>
                <a:pPr lvl="1"/>
                <a:endParaRPr lang="en-US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Convex functions:  </a:t>
                </a:r>
                <a:r>
                  <a:rPr lang="en-US" dirty="0">
                    <a:solidFill>
                      <a:schemeClr val="tx1"/>
                    </a:solidFill>
                  </a:rPr>
                  <a:t>Have only global minima (more later)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185794" y="1769976"/>
                <a:ext cx="6298734" cy="3674479"/>
              </a:xfrm>
              <a:blipFill>
                <a:blip r:embed="rId2"/>
                <a:stretch>
                  <a:fillRect l="-2323" t="-1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812" y="1921211"/>
            <a:ext cx="3520743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077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24A3F-7722-450B-82CD-E3DA73FF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Gradients for 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712D1-2911-4637-80E7-692B55258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Logistic regression</a:t>
                </a:r>
              </a:p>
              <a:p>
                <a:pPr lvl="1"/>
                <a:r>
                  <a:rPr lang="es-ES" dirty="0"/>
                  <a:t>Linear </a:t>
                </a:r>
                <a:r>
                  <a:rPr lang="es-ES" dirty="0" err="1"/>
                  <a:t>function</a:t>
                </a:r>
                <a:r>
                  <a:rPr lang="es-ES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s-ES" b="0" dirty="0"/>
                  <a:t>Output </a:t>
                </a:r>
                <a:r>
                  <a:rPr lang="es-ES" b="0" dirty="0" err="1"/>
                  <a:t>probability</a:t>
                </a:r>
                <a:r>
                  <a:rPr lang="es-ES" b="0" dirty="0"/>
                  <a:t>: 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s-E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Binary cross-entropy loss: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d>
                              </m:e>
                            </m:fun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s-ES" b="0" dirty="0"/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Compute gradients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Define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1  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s-ES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dirty="0"/>
                      <m:t>  </m:t>
                    </m:r>
                    <m:r>
                      <m:rPr>
                        <m:nor/>
                      </m:rPr>
                      <a:rPr lang="en-US" dirty="0"/>
                      <m:t>matrix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with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ones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first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column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Then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subSup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Observe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Use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multi</m:t>
                    </m:r>
                    <m:r>
                      <m:rPr>
                        <m:nor/>
                      </m:rPr>
                      <a:rPr lang="en-US" dirty="0"/>
                      <m:t>−</m:t>
                    </m:r>
                    <m:r>
                      <m:rPr>
                        <m:nor/>
                      </m:rPr>
                      <a:rPr lang="en-US" dirty="0"/>
                      <m:t>variable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chain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rule</m:t>
                    </m:r>
                    <m:r>
                      <m:rPr>
                        <m:nor/>
                      </m:rPr>
                      <a:rPr lang="en-US" dirty="0"/>
                      <m:t>: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712D1-2911-4637-80E7-692B55258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3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3FA7-929A-426A-9448-CB013D59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47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24A3F-7722-450B-82CD-E3DA73FF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Matrix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712D1-2911-4637-80E7-692B55258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Logistic regression</a:t>
                </a:r>
              </a:p>
              <a:p>
                <a:pPr lvl="1"/>
                <a:r>
                  <a:rPr lang="es-ES" dirty="0"/>
                  <a:t>Linear </a:t>
                </a:r>
                <a:r>
                  <a:rPr lang="es-ES" dirty="0" err="1"/>
                  <a:t>function</a:t>
                </a:r>
                <a:r>
                  <a:rPr lang="es-ES" dirty="0"/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s-ES" b="0" dirty="0"/>
                  <a:t>Output </a:t>
                </a:r>
                <a:r>
                  <a:rPr lang="es-ES" b="0" dirty="0" err="1"/>
                  <a:t>probability</a:t>
                </a:r>
                <a:r>
                  <a:rPr lang="es-ES" b="0" dirty="0"/>
                  <a:t>: 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s-ES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BCE: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𝑧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d>
                              </m:e>
                            </m:fun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s-ES" b="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s-ES" b="0" dirty="0"/>
              </a:p>
              <a:p>
                <a:r>
                  <a:rPr lang="en-US" dirty="0"/>
                  <a:t>Matrix form: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𝐴𝑤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712D1-2911-4637-80E7-692B55258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4085" b="-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3FA7-929A-426A-9448-CB013D591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2A3FDB-C2CD-4130-8286-43ABA4C41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39277"/>
            <a:ext cx="5147010" cy="4258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75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9DB53-B207-4FED-9159-16EA90665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in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AC64C7-D216-4D4F-B198-DE8CF30BD1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7075564" cy="432981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Optimizer requires a python method to compute:</a:t>
                </a:r>
              </a:p>
              <a:p>
                <a:pPr lvl="1"/>
                <a:r>
                  <a:rPr lang="en-US" dirty="0"/>
                  <a:t>Objective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dirty="0"/>
                  <a:t>, and</a:t>
                </a:r>
              </a:p>
              <a:p>
                <a:pPr lvl="1"/>
                <a:r>
                  <a:rPr lang="en-US" dirty="0"/>
                  <a:t>Gradient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For logistic loss: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≔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𝐴𝑤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Thus,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d>
                  </m:oMath>
                </a14:m>
                <a:r>
                  <a:rPr lang="en-US" b="0" dirty="0"/>
                  <a:t>  depends on training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How do we pass these?</a:t>
                </a:r>
              </a:p>
              <a:p>
                <a:r>
                  <a:rPr lang="en-US" dirty="0"/>
                  <a:t>Two methods to pass data to the function:</a:t>
                </a:r>
              </a:p>
              <a:p>
                <a:pPr lvl="1"/>
                <a:r>
                  <a:rPr lang="en-US" b="0" dirty="0"/>
                  <a:t>Method 1:  Use a class</a:t>
                </a:r>
              </a:p>
              <a:p>
                <a:pPr lvl="1"/>
                <a:r>
                  <a:rPr lang="en-US" dirty="0"/>
                  <a:t>Method 2:  Use lambda calculus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AC64C7-D216-4D4F-B198-DE8CF30BD1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7075564" cy="4329817"/>
              </a:xfrm>
              <a:blipFill>
                <a:blip r:embed="rId2"/>
                <a:stretch>
                  <a:fillRect l="-2067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D7A04-539C-4558-B078-A107FF598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3C7BC9-4A4A-4E8B-B906-254252DA78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950" y="2155569"/>
            <a:ext cx="4031277" cy="341194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4F75D6D-56C9-49E7-8C0D-B7F10D1D0CAF}"/>
              </a:ext>
            </a:extLst>
          </p:cNvPr>
          <p:cNvSpPr/>
          <p:nvPr/>
        </p:nvSpPr>
        <p:spPr>
          <a:xfrm>
            <a:off x="8395519" y="2056386"/>
            <a:ext cx="523568" cy="40382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1A1254-3239-45E0-9CFC-2A8446B1534A}"/>
              </a:ext>
            </a:extLst>
          </p:cNvPr>
          <p:cNvSpPr txBox="1"/>
          <p:nvPr/>
        </p:nvSpPr>
        <p:spPr>
          <a:xfrm>
            <a:off x="8657303" y="1425997"/>
            <a:ext cx="139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data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460B7FE-9D2A-480C-A103-4AD92FD3CE68}"/>
              </a:ext>
            </a:extLst>
          </p:cNvPr>
          <p:cNvCxnSpPr>
            <a:stCxn id="8" idx="2"/>
            <a:endCxn id="7" idx="7"/>
          </p:cNvCxnSpPr>
          <p:nvPr/>
        </p:nvCxnSpPr>
        <p:spPr>
          <a:xfrm flipH="1">
            <a:off x="8842412" y="1795329"/>
            <a:ext cx="512390" cy="320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0277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313C6-DE3C-4AA8-B05D-E2AC83FF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1:  Create a Class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3CB1C-8232-4305-83A7-ED832F59BA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380328" cy="4329817"/>
              </a:xfrm>
            </p:spPr>
            <p:txBody>
              <a:bodyPr/>
              <a:lstStyle/>
              <a:p>
                <a:r>
                  <a:rPr lang="en-US" dirty="0"/>
                  <a:t>Create a class for the objective function</a:t>
                </a:r>
              </a:p>
              <a:p>
                <a:r>
                  <a:rPr lang="en-US" dirty="0"/>
                  <a:t>Pass data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in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constructor</a:t>
                </a:r>
              </a:p>
              <a:p>
                <a:pPr lvl="1"/>
                <a:r>
                  <a:rPr lang="en-US" dirty="0"/>
                  <a:t>Also perform any pre-computations</a:t>
                </a:r>
              </a:p>
              <a:p>
                <a:r>
                  <a:rPr lang="en-US" dirty="0"/>
                  <a:t>Pass argument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dirty="0"/>
                  <a:t> to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method</a:t>
                </a:r>
                <a:r>
                  <a:rPr lang="en-US" dirty="0"/>
                  <a:t> </a:t>
                </a:r>
                <a:r>
                  <a:rPr lang="en-US" dirty="0" err="1"/>
                  <a:t>feval</a:t>
                </a:r>
                <a:endParaRPr lang="en-US" dirty="0"/>
              </a:p>
              <a:p>
                <a:pPr lvl="1"/>
                <a:r>
                  <a:rPr lang="en-US" dirty="0"/>
                  <a:t>Evaluates function and gradient</a:t>
                </a:r>
              </a:p>
              <a:p>
                <a:pPr lvl="1"/>
                <a:r>
                  <a:rPr lang="en-US" dirty="0"/>
                  <a:t>Can access the data as class members</a:t>
                </a:r>
              </a:p>
              <a:p>
                <a:pPr lvl="1"/>
                <a:r>
                  <a:rPr lang="en-US" dirty="0"/>
                  <a:t>Note forward-backward method</a:t>
                </a:r>
              </a:p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Instantiate</a:t>
                </a:r>
                <a:r>
                  <a:rPr lang="en-US" dirty="0"/>
                  <a:t> the class with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3CB1C-8232-4305-83A7-ED832F59BA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380328" cy="4329817"/>
              </a:xfrm>
              <a:blipFill>
                <a:blip r:embed="rId2"/>
                <a:stretch>
                  <a:fillRect l="-3338" t="-1549" r="-1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20641-FDEB-42A5-AF49-344F82AB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D4FA91-9115-4F45-B519-8C2B458D2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770" y="1539277"/>
            <a:ext cx="6324600" cy="4257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53C6B9-1897-45BA-959D-CD1149746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770193"/>
            <a:ext cx="4094948" cy="68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30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77FC8-84B3-424B-915F-D67F54B1E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56C92-3256-48D9-B269-7A845724F8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Always test your implementation!</a:t>
                </a:r>
              </a:p>
              <a:p>
                <a:r>
                  <a:rPr lang="en-US" dirty="0"/>
                  <a:t>Pick two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that are close</a:t>
                </a:r>
              </a:p>
              <a:p>
                <a:r>
                  <a:rPr lang="en-US" dirty="0"/>
                  <a:t>Make sure: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A56C92-3256-48D9-B269-7A845724F8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F37C8-20A8-4F32-9839-3A44A42CD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4AD9D6-CDE9-4873-B7C8-6F2F2778A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623" y="3002743"/>
            <a:ext cx="56388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979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7C637-AF83-49F9-8DE9-E7BD0551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2:  Lambda Calculus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C6F709-2244-4BF1-81BE-7E55412665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Create a function that 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Use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lambda</a:t>
                </a:r>
                <a:r>
                  <a:rPr lang="en-US" dirty="0"/>
                  <a:t> function to fix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C6F709-2244-4BF1-81BE-7E55412665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AAE8A-B1D9-4509-8ABB-3FEE5C98D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C495B-CB56-4778-9B0A-ADA812ACF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314" y="1471612"/>
            <a:ext cx="344805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102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A880-F611-4A3E-A018-DC756682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8488A-91D3-405C-ADA0-BD48670FEA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4897120" cy="4329817"/>
              </a:xfrm>
            </p:spPr>
            <p:txBody>
              <a:bodyPr/>
              <a:lstStyle/>
              <a:p>
                <a:r>
                  <a:rPr lang="en-US" dirty="0"/>
                  <a:t>Input parameters:</a:t>
                </a:r>
              </a:p>
              <a:p>
                <a:pPr lvl="1"/>
                <a:r>
                  <a:rPr lang="en-US" dirty="0"/>
                  <a:t>Function to return objective and gradient</a:t>
                </a:r>
              </a:p>
              <a:p>
                <a:pPr lvl="1"/>
                <a:r>
                  <a:rPr lang="en-US" dirty="0"/>
                  <a:t>Initial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Learning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Number of iterations</a:t>
                </a:r>
              </a:p>
              <a:p>
                <a:r>
                  <a:rPr lang="en-US" dirty="0"/>
                  <a:t>Code returns:</a:t>
                </a:r>
              </a:p>
              <a:p>
                <a:pPr lvl="1"/>
                <a:r>
                  <a:rPr lang="en-US" dirty="0"/>
                  <a:t>Final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Final function value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History (for debugging)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08488A-91D3-405C-ADA0-BD48670FEA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4897120" cy="4329817"/>
              </a:xfrm>
              <a:blipFill>
                <a:blip r:embed="rId2"/>
                <a:stretch>
                  <a:fillRect l="-298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3F7B7-8750-43B0-B6D2-5694D82C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E16B1D-9A9E-46FA-A4F4-4BD4E426F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859" y="389718"/>
            <a:ext cx="5153025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766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C9761-ECEE-41E0-843D-4A7377CB1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on 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B8A3D-9EA4-4623-A64F-303DDF424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592320" cy="4329817"/>
          </a:xfrm>
        </p:spPr>
        <p:txBody>
          <a:bodyPr/>
          <a:lstStyle/>
          <a:p>
            <a:r>
              <a:rPr lang="en-US" dirty="0"/>
              <a:t>Random initial condition</a:t>
            </a:r>
          </a:p>
          <a:p>
            <a:r>
              <a:rPr lang="en-US" dirty="0"/>
              <a:t>1000 iterations</a:t>
            </a:r>
          </a:p>
          <a:p>
            <a:r>
              <a:rPr lang="en-US" dirty="0"/>
              <a:t>Convergence is slow.</a:t>
            </a:r>
          </a:p>
          <a:p>
            <a:r>
              <a:rPr lang="en-US" dirty="0"/>
              <a:t>Final accuracy poor </a:t>
            </a:r>
          </a:p>
          <a:p>
            <a:pPr lvl="1"/>
            <a:r>
              <a:rPr lang="en-US" dirty="0"/>
              <a:t>estimate has not converged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15CB6-4892-4243-B52A-48ABEC55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8E564-18AA-4540-825D-4CE472CDE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694" y="1435566"/>
            <a:ext cx="4429125" cy="2571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1D58AA-14C6-478E-8E9C-07F83E9D0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47" y="3579555"/>
            <a:ext cx="4370647" cy="2917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0ED561-0552-4253-8E78-34C0AB6C8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694" y="4116068"/>
            <a:ext cx="3496617" cy="2368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3368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C88CF-411C-47FD-994E-E892D3ED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Step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195F5-11F6-4BF8-8860-8BCAB4E50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learning rate =&gt; Faster convergence</a:t>
            </a:r>
          </a:p>
          <a:p>
            <a:r>
              <a:rPr lang="en-US" dirty="0"/>
              <a:t>But, may be unstable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3EBF8-D407-494B-B380-B254E143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4C372-3956-4DEF-B5BA-44B9EC053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170" y="1539277"/>
            <a:ext cx="4813510" cy="31812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1C48BB-16A1-4FB8-9A50-C1F0D760A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129880"/>
            <a:ext cx="4634178" cy="79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957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example:  Build an optimizer for logistic regression</a:t>
            </a:r>
          </a:p>
          <a:p>
            <a:r>
              <a:rPr lang="en-US" dirty="0"/>
              <a:t>Gradients of multi-variable functions</a:t>
            </a:r>
          </a:p>
          <a:p>
            <a:r>
              <a:rPr lang="en-US" dirty="0"/>
              <a:t>Gradient descent</a:t>
            </a:r>
          </a:p>
          <a:p>
            <a:r>
              <a:rPr lang="en-US" dirty="0"/>
              <a:t>Adaptive step size</a:t>
            </a:r>
          </a:p>
          <a:p>
            <a:r>
              <a:rPr lang="en-US" dirty="0"/>
              <a:t>Convexity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Arrow: Right 4"/>
          <p:cNvSpPr/>
          <p:nvPr/>
        </p:nvSpPr>
        <p:spPr>
          <a:xfrm>
            <a:off x="290783" y="2821326"/>
            <a:ext cx="978408" cy="48463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544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Step Size Selection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45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Most practical algorithms change step size adaptively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Tradeoff: Selecting 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: </a:t>
                </a:r>
                <a:br>
                  <a:rPr lang="en-US" dirty="0"/>
                </a:br>
                <a:endParaRPr lang="en-US" dirty="0"/>
              </a:p>
              <a:p>
                <a:pPr lvl="1"/>
                <a:r>
                  <a:rPr lang="en-US" dirty="0"/>
                  <a:t>Larger steps, faster convergence</a:t>
                </a:r>
              </a:p>
              <a:p>
                <a:pPr lvl="1"/>
                <a:r>
                  <a:rPr lang="en-US" dirty="0"/>
                  <a:t>But, may overshoot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455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8145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Armijo Rule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46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Recall that we know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r>
                  <a:rPr lang="en-US" dirty="0"/>
                  <a:t>Armijo Rule:  </a:t>
                </a:r>
              </a:p>
              <a:p>
                <a:pPr lvl="1"/>
                <a:r>
                  <a:rPr lang="en-US" dirty="0"/>
                  <a:t>Select some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∈(0,1)</m:t>
                    </m:r>
                  </m:oMath>
                </a14:m>
                <a:r>
                  <a:rPr lang="en-US" dirty="0"/>
                  <a:t>.  Usually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=1/2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Select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such that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Decreases by at least at fraction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predicted by linear approx.</a:t>
                </a:r>
              </a:p>
              <a:p>
                <a:r>
                  <a:rPr lang="en-US" dirty="0"/>
                  <a:t>Simple update:</a:t>
                </a:r>
              </a:p>
              <a:p>
                <a:pPr lvl="1"/>
                <a:r>
                  <a:rPr lang="en-US" dirty="0"/>
                  <a:t>If Armijo rule passes:  Accept point and increase step size: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Armijo rule fails:  Reject point and decrease step size: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Can also use a line search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455" t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69931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Armijo Rule Illustrated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47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978769" y="1855176"/>
                <a:ext cx="5802923" cy="4164623"/>
              </a:xfrm>
            </p:spPr>
            <p:txBody>
              <a:bodyPr/>
              <a:lstStyle/>
              <a:p>
                <a:r>
                  <a:rPr lang="en-US" sz="2400" dirty="0"/>
                  <a:t>Armijo rule: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sz="2400" dirty="0"/>
                  <a:t>Guarantees decrements every iteration</a:t>
                </a:r>
              </a:p>
              <a:p>
                <a:r>
                  <a:rPr lang="en-US" sz="2400" dirty="0"/>
                  <a:t>No overshoot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978769" y="1855176"/>
                <a:ext cx="5802923" cy="4164623"/>
              </a:xfrm>
              <a:blipFill>
                <a:blip r:embed="rId2"/>
                <a:stretch>
                  <a:fillRect l="-3057" t="-1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Image result for armijo ru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323" y="1271968"/>
            <a:ext cx="4482548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87613" y="5005768"/>
            <a:ext cx="1905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135923" y="3548649"/>
            <a:ext cx="0" cy="20875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87613" y="3451606"/>
            <a:ext cx="0" cy="20875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219409" y="5645530"/>
                <a:ext cx="2667000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Feasible region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409" y="5645530"/>
                <a:ext cx="2667000" cy="374270"/>
              </a:xfrm>
              <a:prstGeom prst="rect">
                <a:avLst/>
              </a:prstGeom>
              <a:blipFill>
                <a:blip r:embed="rId4"/>
                <a:stretch>
                  <a:fillRect l="-1826"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349155-E879-A04C-A3E4-54E7AF84C491}"/>
                  </a:ext>
                </a:extLst>
              </p:cNvPr>
              <p:cNvSpPr txBox="1"/>
              <p:nvPr/>
            </p:nvSpPr>
            <p:spPr>
              <a:xfrm>
                <a:off x="3699990" y="5121222"/>
                <a:ext cx="6302816" cy="4596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Line representing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a given c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349155-E879-A04C-A3E4-54E7AF84C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990" y="5121222"/>
                <a:ext cx="6302816" cy="459678"/>
              </a:xfrm>
              <a:prstGeom prst="rect">
                <a:avLst/>
              </a:prstGeom>
              <a:blipFill>
                <a:blip r:embed="rId5"/>
                <a:stretch>
                  <a:fillRect l="-602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73339B-80A7-3C45-9FD6-26CAC5285263}"/>
              </a:ext>
            </a:extLst>
          </p:cNvPr>
          <p:cNvCxnSpPr/>
          <p:nvPr/>
        </p:nvCxnSpPr>
        <p:spPr>
          <a:xfrm flipH="1" flipV="1">
            <a:off x="3465095" y="4106779"/>
            <a:ext cx="304800" cy="812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72524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45F0F-0626-47CF-99DC-AC995939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Gradient Descent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BA42A-72D2-40C1-A46C-F2C2CBDC9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971735" cy="4329817"/>
          </a:xfrm>
        </p:spPr>
        <p:txBody>
          <a:bodyPr/>
          <a:lstStyle/>
          <a:p>
            <a:r>
              <a:rPr lang="en-US" dirty="0"/>
              <a:t>Simple modification of fixed step size case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2A43D-23A2-4A7F-983C-579E2F46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D88DE7-6F2C-4DA4-9712-AB3872095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407" y="1668586"/>
            <a:ext cx="5600700" cy="3705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076DCA-0734-454E-907A-CD2B61DDD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57" y="1935277"/>
            <a:ext cx="5505450" cy="3686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C58FE5-4C0D-5E4E-A871-47A5CFF0E8A1}"/>
                  </a:ext>
                </a:extLst>
              </p:cNvPr>
              <p:cNvSpPr txBox="1"/>
              <p:nvPr/>
            </p:nvSpPr>
            <p:spPr>
              <a:xfrm>
                <a:off x="6319019" y="5474707"/>
                <a:ext cx="17863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here?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C58FE5-4C0D-5E4E-A871-47A5CFF0E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019" y="5474707"/>
                <a:ext cx="1786323" cy="369332"/>
              </a:xfrm>
              <a:prstGeom prst="rect">
                <a:avLst/>
              </a:prstGeom>
              <a:blipFill>
                <a:blip r:embed="rId4"/>
                <a:stretch>
                  <a:fillRect l="-2837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2891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9ED6-1DA8-4655-8F0F-17D9A8B2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04903-E02D-4BB7-9DC9-81CA4B15E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ACA0B-63A8-4515-A315-35E855D3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89770-2C7E-466D-9801-461A1EEB5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2192" y="2204027"/>
            <a:ext cx="764857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2734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Motivating example:  Build an optimizer for logistic regression</a:t>
            </a:r>
          </a:p>
          <a:p>
            <a:r>
              <a:rPr lang="en-US" dirty="0"/>
              <a:t>Gradients of multi-variable functions</a:t>
            </a:r>
          </a:p>
          <a:p>
            <a:r>
              <a:rPr lang="en-US" dirty="0"/>
              <a:t>Gradient descent</a:t>
            </a:r>
          </a:p>
          <a:p>
            <a:r>
              <a:rPr lang="en-US" dirty="0"/>
              <a:t>Adaptive step size</a:t>
            </a:r>
          </a:p>
          <a:p>
            <a:r>
              <a:rPr lang="en-US" dirty="0"/>
              <a:t>Convexity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50</a:t>
            </a:fld>
            <a:endParaRPr lang="en-US" dirty="0"/>
          </a:p>
        </p:txBody>
      </p:sp>
      <p:sp>
        <p:nvSpPr>
          <p:cNvPr id="5" name="Arrow: Right 4"/>
          <p:cNvSpPr/>
          <p:nvPr/>
        </p:nvSpPr>
        <p:spPr>
          <a:xfrm>
            <a:off x="273198" y="3219553"/>
            <a:ext cx="978408" cy="48463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460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Sets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51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Definition</a:t>
                </a:r>
                <a:r>
                  <a:rPr lang="en-US" dirty="0"/>
                  <a:t>: 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convex</a:t>
                </a:r>
                <a:r>
                  <a:rPr lang="en-US" dirty="0"/>
                  <a:t> if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for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all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Any line between two points remains in the set.</a:t>
                </a:r>
              </a:p>
              <a:p>
                <a:r>
                  <a:rPr lang="en-US" b="0" dirty="0"/>
                  <a:t>Examples:</a:t>
                </a:r>
              </a:p>
              <a:p>
                <a:pPr lvl="1"/>
                <a:r>
                  <a:rPr lang="en-US" dirty="0"/>
                  <a:t>Square, circle, ellipse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b="0" dirty="0"/>
                  <a:t> for any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dirty="0"/>
                  <a:t> and ve</a:t>
                </a:r>
                <a:r>
                  <a:rPr lang="en-US" dirty="0"/>
                  <a:t>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261" t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98585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Set Visualized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9862" y="1661746"/>
            <a:ext cx="2965938" cy="4358054"/>
          </a:xfrm>
        </p:spPr>
        <p:txBody>
          <a:bodyPr/>
          <a:lstStyle/>
          <a:p>
            <a:r>
              <a:rPr lang="en-US" dirty="0"/>
              <a:t>Convex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 convex</a:t>
            </a:r>
          </a:p>
        </p:txBody>
      </p:sp>
      <p:pic>
        <p:nvPicPr>
          <p:cNvPr id="2050" name="Picture 2" descr="http://upload.wikimedia.org/wikipedia/commons/thumb/0/06/Convex_polygon_illustration1.png/1280px-Convex_polygon_illustration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50" y="1372226"/>
            <a:ext cx="2286000" cy="243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upload.wikimedia.org/wikipedia/commons/thumb/1/11/Convex_polygon_illustration2.png/220px-Convex_polygon_illustration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3925274"/>
            <a:ext cx="209550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1665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Functions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53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097280" y="1447800"/>
                <a:ext cx="9113520" cy="2438400"/>
              </a:xfrm>
            </p:spPr>
            <p:txBody>
              <a:bodyPr/>
              <a:lstStyle/>
              <a:p>
                <a:r>
                  <a:rPr lang="en-US" dirty="0"/>
                  <a:t>A real-valued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rgbClr val="0070C0"/>
                    </a:solidFill>
                  </a:rPr>
                  <a:t>convex</a:t>
                </a:r>
                <a:r>
                  <a:rPr lang="en-US" dirty="0"/>
                  <a:t> if:</a:t>
                </a:r>
              </a:p>
              <a:p>
                <a:pPr lvl="1"/>
                <a:r>
                  <a:rPr lang="en-US" dirty="0"/>
                  <a:t>Its domain is a convex set, and</a:t>
                </a:r>
              </a:p>
              <a:p>
                <a:pPr lvl="1"/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i="0" dirty="0">
                    <a:latin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b="0" i="0" dirty="0">
                    <a:latin typeface="Cambria Math" panose="02040503050406030204" pitchFamily="18" charset="0"/>
                  </a:rPr>
                  <a:t>:</a:t>
                </a:r>
                <a:br>
                  <a:rPr lang="en-US" b="0" i="0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097280" y="1447800"/>
                <a:ext cx="9113520" cy="2438400"/>
              </a:xfrm>
              <a:blipFill>
                <a:blip r:embed="rId2"/>
                <a:stretch>
                  <a:fillRect l="-1605" t="-2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430" y="2872154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713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 Function Examples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9F8D-2534-4D48-85E3-73908409BCC5}" type="slidenum">
              <a:rPr lang="en-US" smtClean="0"/>
              <a:pPr/>
              <a:t>54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Linear function of a scalar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Linear function of a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r>
                  <a:rPr lang="en-US" dirty="0"/>
                  <a:t>Quadratic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convex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exists everywhere,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convex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a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means the Hessian must be positive </a:t>
                </a:r>
                <a:r>
                  <a:rPr lang="en-US" dirty="0" err="1"/>
                  <a:t>semidefinite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convex, so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Logistic loss is convex! 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261" t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9792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1AB1E-5582-4FB9-A18F-EBE17F6A4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Minima and Convex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ED180D-287F-404F-97E6-43A7F8341A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6153265" cy="4329817"/>
              </a:xfrm>
            </p:spPr>
            <p:txBody>
              <a:bodyPr/>
              <a:lstStyle/>
              <a:p>
                <a:r>
                  <a: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</a:t>
                </a:r>
                <a:r>
                  <a:rPr lang="en-US" dirty="0"/>
                  <a:t>: 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convex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a local minima,  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a global minima</a:t>
                </a:r>
              </a:p>
              <a:p>
                <a:r>
                  <a:rPr lang="en-US" dirty="0"/>
                  <a:t>Implication for optimization:</a:t>
                </a:r>
              </a:p>
              <a:p>
                <a:pPr lvl="1"/>
                <a:r>
                  <a:rPr lang="en-US" dirty="0"/>
                  <a:t>Gradient descent only converges to local minima</a:t>
                </a:r>
              </a:p>
              <a:p>
                <a:pPr lvl="1"/>
                <a:r>
                  <a:rPr lang="en-US" dirty="0"/>
                  <a:t>In general, cannot guarantee optimality</a:t>
                </a:r>
              </a:p>
              <a:p>
                <a:pPr lvl="1"/>
                <a:r>
                  <a:rPr lang="en-US" dirty="0"/>
                  <a:t>Depends on initial condition</a:t>
                </a:r>
              </a:p>
              <a:p>
                <a:pPr lvl="1"/>
                <a:r>
                  <a:rPr lang="en-US" dirty="0"/>
                  <a:t>But, for convex functions can always obtain optimal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ED180D-287F-404F-97E6-43A7F8341A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6153265" cy="4329817"/>
              </a:xfrm>
              <a:blipFill>
                <a:blip r:embed="rId2"/>
                <a:stretch>
                  <a:fillRect l="-2379" t="-15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EB04F-CFB7-4F62-B6FF-7A41BC1F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3E2BD-28B2-46AD-B966-DD9669BA20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870" y="1539277"/>
            <a:ext cx="3520743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6288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FD57-DB28-43FE-A586-D0D67E2A2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Topics We Did Not Cover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76EAA-8ECF-4EAB-98C2-B4ADB2746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optimizer is OK, but not nearly as fast as </a:t>
            </a:r>
            <a:r>
              <a:rPr lang="en-US" dirty="0" err="1"/>
              <a:t>sklearn</a:t>
            </a:r>
            <a:r>
              <a:rPr lang="en-US" dirty="0"/>
              <a:t> method</a:t>
            </a:r>
          </a:p>
          <a:p>
            <a:r>
              <a:rPr lang="en-US" dirty="0"/>
              <a:t>Many techniques we did not cover</a:t>
            </a:r>
          </a:p>
          <a:p>
            <a:pPr lvl="1"/>
            <a:r>
              <a:rPr lang="en-US" dirty="0"/>
              <a:t>Newton’s method</a:t>
            </a:r>
          </a:p>
          <a:p>
            <a:pPr lvl="1"/>
            <a:r>
              <a:rPr lang="en-US" dirty="0"/>
              <a:t>Quasi-Newton’s method</a:t>
            </a:r>
          </a:p>
          <a:p>
            <a:pPr lvl="1"/>
            <a:r>
              <a:rPr lang="en-US" dirty="0"/>
              <a:t>Non-smooth optimization</a:t>
            </a:r>
          </a:p>
          <a:p>
            <a:pPr lvl="1"/>
            <a:r>
              <a:rPr lang="en-US" dirty="0"/>
              <a:t>Constrained optimization</a:t>
            </a:r>
          </a:p>
          <a:p>
            <a:pPr lvl="1"/>
            <a:endParaRPr lang="en-US" dirty="0"/>
          </a:p>
          <a:p>
            <a:r>
              <a:rPr lang="en-US" dirty="0"/>
              <a:t>Take an optimization class and learn more.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09C9B-8219-47B4-B949-538A15BA3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5975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should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the objective function, parameters and constraints in an optimization problem</a:t>
            </a:r>
          </a:p>
          <a:p>
            <a:r>
              <a:rPr lang="en-US" dirty="0"/>
              <a:t>Compute the gradient of  a loss function for scalar, vector parameters</a:t>
            </a:r>
          </a:p>
          <a:p>
            <a:pPr lvl="1"/>
            <a:r>
              <a:rPr lang="en-US" dirty="0"/>
              <a:t>Matrix parameters are advanced (graduate students only)</a:t>
            </a:r>
          </a:p>
          <a:p>
            <a:r>
              <a:rPr lang="en-US" dirty="0"/>
              <a:t>Efficiently compute a gradient in python.</a:t>
            </a:r>
          </a:p>
          <a:p>
            <a:r>
              <a:rPr lang="en-US" dirty="0"/>
              <a:t>Write the gradient descent update</a:t>
            </a:r>
          </a:p>
          <a:p>
            <a:r>
              <a:rPr lang="en-US" dirty="0"/>
              <a:t>Describe the effect of the learning rate on convergence</a:t>
            </a:r>
          </a:p>
          <a:p>
            <a:r>
              <a:rPr lang="en-US" dirty="0"/>
              <a:t>Determine if a loss function is convex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17989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6547</TotalTime>
  <Words>2991</Words>
  <Application>Microsoft Macintosh PowerPoint</Application>
  <PresentationFormat>Widescreen</PresentationFormat>
  <Paragraphs>491</Paragraphs>
  <Slides>57</Slides>
  <Notes>0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Cambria Math</vt:lpstr>
      <vt:lpstr>Wingdings</vt:lpstr>
      <vt:lpstr>Retrospect</vt:lpstr>
      <vt:lpstr>Unit 7  Non-Linear Optimization</vt:lpstr>
      <vt:lpstr>Learning Objectives</vt:lpstr>
      <vt:lpstr>Outline </vt:lpstr>
      <vt:lpstr>Demo on GitHub</vt:lpstr>
      <vt:lpstr>Recap: Breast Cancer Example</vt:lpstr>
      <vt:lpstr>Logistic Regression Maximum Likelihood</vt:lpstr>
      <vt:lpstr>Minimizing the Loss Function</vt:lpstr>
      <vt:lpstr>Outline </vt:lpstr>
      <vt:lpstr>Gradients and Optimization</vt:lpstr>
      <vt:lpstr>Gradient Defined</vt:lpstr>
      <vt:lpstr>Example 1</vt:lpstr>
      <vt:lpstr>Example 2:  An Exponential Model</vt:lpstr>
      <vt:lpstr>Gradients with Sums</vt:lpstr>
      <vt:lpstr>Gradients with Sums</vt:lpstr>
      <vt:lpstr>Chain Rule</vt:lpstr>
      <vt:lpstr>Multi-Variable Chain Rule</vt:lpstr>
      <vt:lpstr>Example 3:  Log-Linear Model</vt:lpstr>
      <vt:lpstr>Example 3: Matrix Version</vt:lpstr>
      <vt:lpstr>First-Order Approximations Scalar-Input Functions</vt:lpstr>
      <vt:lpstr>First-Order Approximations Vector Input Functions</vt:lpstr>
      <vt:lpstr>Checking Gradients</vt:lpstr>
      <vt:lpstr>Gradients and Stationary Points</vt:lpstr>
      <vt:lpstr>Direction of Maximum Increase</vt:lpstr>
      <vt:lpstr>First-Order Approximations Matrix Input Functions (Advanced)</vt:lpstr>
      <vt:lpstr>Example 4:  Matrix-Input Function</vt:lpstr>
      <vt:lpstr>Example 4 in Python</vt:lpstr>
      <vt:lpstr>In-Class Exercise</vt:lpstr>
      <vt:lpstr>Outline </vt:lpstr>
      <vt:lpstr>Unconstrained Optimization</vt:lpstr>
      <vt:lpstr>Numerical Optimization</vt:lpstr>
      <vt:lpstr>Gradient Descent</vt:lpstr>
      <vt:lpstr>Gradient Descent Illustrated</vt:lpstr>
      <vt:lpstr>Gradient Descent Analysis</vt:lpstr>
      <vt:lpstr>Local vs. Global Minima</vt:lpstr>
      <vt:lpstr>Gradients for Logistic Regression</vt:lpstr>
      <vt:lpstr>Matrix Form</vt:lpstr>
      <vt:lpstr>Implementation in Python</vt:lpstr>
      <vt:lpstr>Method 1:  Create a Class</vt:lpstr>
      <vt:lpstr>Testing the Gradient</vt:lpstr>
      <vt:lpstr>Method 2:  Lambda Calculus</vt:lpstr>
      <vt:lpstr>Gradient Descent</vt:lpstr>
      <vt:lpstr>Gradient Descent on Logistic Regression</vt:lpstr>
      <vt:lpstr>Different Step Sizes</vt:lpstr>
      <vt:lpstr>Outline </vt:lpstr>
      <vt:lpstr>Adaptive Step Size Selection</vt:lpstr>
      <vt:lpstr>Armijo Rule</vt:lpstr>
      <vt:lpstr>Armijo Rule Illustrated</vt:lpstr>
      <vt:lpstr>Adaptive Gradient Descent in Python</vt:lpstr>
      <vt:lpstr>In-Class Exercise</vt:lpstr>
      <vt:lpstr>Outline </vt:lpstr>
      <vt:lpstr>Convex Sets</vt:lpstr>
      <vt:lpstr>Convex Set Visualized</vt:lpstr>
      <vt:lpstr>Convex Functions</vt:lpstr>
      <vt:lpstr>Convex Function Examples</vt:lpstr>
      <vt:lpstr>Global Minima and Convex Function</vt:lpstr>
      <vt:lpstr>Other Topics We Did Not Cover</vt:lpstr>
      <vt:lpstr>What you should know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Myron Weng</cp:lastModifiedBy>
  <cp:revision>593</cp:revision>
  <cp:lastPrinted>2018-03-04T16:35:01Z</cp:lastPrinted>
  <dcterms:created xsi:type="dcterms:W3CDTF">2015-03-22T11:15:32Z</dcterms:created>
  <dcterms:modified xsi:type="dcterms:W3CDTF">2025-10-07T02:30:11Z</dcterms:modified>
</cp:coreProperties>
</file>